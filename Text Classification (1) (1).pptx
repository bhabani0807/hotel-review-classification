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9" r:id="rId2"/>
    <p:sldId id="256" r:id="rId3"/>
    <p:sldId id="257" r:id="rId4"/>
    <p:sldId id="258" r:id="rId5"/>
    <p:sldId id="270" r:id="rId6"/>
    <p:sldId id="259" r:id="rId7"/>
    <p:sldId id="260" r:id="rId8"/>
    <p:sldId id="261" r:id="rId9"/>
    <p:sldId id="267" r:id="rId10"/>
    <p:sldId id="272" r:id="rId11"/>
    <p:sldId id="262" r:id="rId12"/>
    <p:sldId id="271" r:id="rId13"/>
    <p:sldId id="273" r:id="rId14"/>
    <p:sldId id="263" r:id="rId15"/>
    <p:sldId id="264" r:id="rId16"/>
    <p:sldId id="268" r:id="rId17"/>
    <p:sldId id="275"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4/30/2025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Welcome Text Vectors &amp; Illustrations for Free Download"/>
          <p:cNvPicPr>
            <a:picLocks noChangeAspect="1" noChangeArrowheads="1"/>
          </p:cNvPicPr>
          <p:nvPr/>
        </p:nvPicPr>
        <p:blipFill>
          <a:blip r:embed="rId2"/>
          <a:srcRect/>
          <a:stretch>
            <a:fillRect/>
          </a:stretch>
        </p:blipFill>
        <p:spPr bwMode="auto">
          <a:xfrm>
            <a:off x="1136469" y="482958"/>
            <a:ext cx="10659291" cy="6178731"/>
          </a:xfrm>
          <a:prstGeom prst="rect">
            <a:avLst/>
          </a:prstGeom>
          <a:noFill/>
        </p:spPr>
      </p:pic>
    </p:spTree>
    <p:extLst>
      <p:ext uri="{BB962C8B-B14F-4D97-AF65-F5344CB8AC3E}">
        <p14:creationId xmlns:p14="http://schemas.microsoft.com/office/powerpoint/2010/main" val="316210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sz="4000" dirty="0">
                <a:latin typeface="Arial Black" panose="020B0A04020102020204" pitchFamily="34" charset="0"/>
              </a:rPr>
              <a:t>Text Classification On Hotel Review</a:t>
            </a:r>
          </a:p>
        </p:txBody>
      </p:sp>
      <p:sp>
        <p:nvSpPr>
          <p:cNvPr id="5" name="Content Placeholder 4"/>
          <p:cNvSpPr>
            <a:spLocks noGrp="1"/>
          </p:cNvSpPr>
          <p:nvPr>
            <p:ph sz="half" idx="1"/>
          </p:nvPr>
        </p:nvSpPr>
        <p:spPr/>
        <p:txBody>
          <a:bodyPr>
            <a:normAutofit lnSpcReduction="10000"/>
          </a:bodyPr>
          <a:lstStyle/>
          <a:p>
            <a:pPr marL="0" indent="0">
              <a:buNone/>
            </a:pPr>
            <a:r>
              <a:rPr lang="en-IN" sz="2800" b="1" dirty="0">
                <a:solidFill>
                  <a:schemeClr val="accent6">
                    <a:lumMod val="75000"/>
                  </a:schemeClr>
                </a:solidFill>
              </a:rPr>
              <a:t>Team Members</a:t>
            </a:r>
          </a:p>
          <a:p>
            <a:pPr marL="0" indent="0" algn="just">
              <a:buNone/>
            </a:pPr>
            <a:r>
              <a:rPr lang="en-IN" sz="2400" b="1" dirty="0">
                <a:solidFill>
                  <a:schemeClr val="accent6">
                    <a:lumMod val="50000"/>
                  </a:schemeClr>
                </a:solidFill>
                <a:effectLst>
                  <a:outerShdw blurRad="38100" dist="38100" dir="2700000" algn="tl">
                    <a:srgbClr val="000000">
                      <a:alpha val="43137"/>
                    </a:srgbClr>
                  </a:outerShdw>
                </a:effectLst>
              </a:rPr>
              <a:t>Bhabani B</a:t>
            </a:r>
          </a:p>
          <a:p>
            <a:pPr marL="0" indent="0" algn="just">
              <a:buNone/>
            </a:pPr>
            <a:r>
              <a:rPr lang="en-IN" sz="2400" b="1" dirty="0" err="1">
                <a:solidFill>
                  <a:schemeClr val="accent6">
                    <a:lumMod val="50000"/>
                  </a:schemeClr>
                </a:solidFill>
                <a:effectLst>
                  <a:outerShdw blurRad="38100" dist="38100" dir="2700000" algn="tl">
                    <a:srgbClr val="000000">
                      <a:alpha val="43137"/>
                    </a:srgbClr>
                  </a:outerShdw>
                </a:effectLst>
              </a:rPr>
              <a:t>Jiyashan</a:t>
            </a:r>
            <a:r>
              <a:rPr lang="en-IN" sz="2400" b="1" dirty="0">
                <a:solidFill>
                  <a:schemeClr val="accent6">
                    <a:lumMod val="50000"/>
                  </a:schemeClr>
                </a:solidFill>
                <a:effectLst>
                  <a:outerShdw blurRad="38100" dist="38100" dir="2700000" algn="tl">
                    <a:srgbClr val="000000">
                      <a:alpha val="43137"/>
                    </a:srgbClr>
                  </a:outerShdw>
                </a:effectLst>
              </a:rPr>
              <a:t> P</a:t>
            </a:r>
          </a:p>
          <a:p>
            <a:pPr marL="0" indent="0" algn="just">
              <a:buNone/>
            </a:pPr>
            <a:r>
              <a:rPr lang="en-IN" sz="2400" b="1" dirty="0" err="1">
                <a:solidFill>
                  <a:schemeClr val="accent6">
                    <a:lumMod val="50000"/>
                  </a:schemeClr>
                </a:solidFill>
                <a:effectLst>
                  <a:outerShdw blurRad="38100" dist="38100" dir="2700000" algn="tl">
                    <a:srgbClr val="000000">
                      <a:alpha val="43137"/>
                    </a:srgbClr>
                  </a:outerShdw>
                </a:effectLst>
              </a:rPr>
              <a:t>Kavitha</a:t>
            </a:r>
            <a:r>
              <a:rPr lang="en-IN" sz="2400" b="1" dirty="0">
                <a:solidFill>
                  <a:schemeClr val="accent6">
                    <a:lumMod val="50000"/>
                  </a:schemeClr>
                </a:solidFill>
                <a:effectLst>
                  <a:outerShdw blurRad="38100" dist="38100" dir="2700000" algn="tl">
                    <a:srgbClr val="000000">
                      <a:alpha val="43137"/>
                    </a:srgbClr>
                  </a:outerShdw>
                </a:effectLst>
              </a:rPr>
              <a:t> D K</a:t>
            </a:r>
          </a:p>
          <a:p>
            <a:pPr marL="0" indent="0" algn="just">
              <a:buNone/>
            </a:pPr>
            <a:r>
              <a:rPr lang="en-IN" sz="2400" b="1" dirty="0" err="1">
                <a:solidFill>
                  <a:schemeClr val="accent6">
                    <a:lumMod val="50000"/>
                  </a:schemeClr>
                </a:solidFill>
                <a:effectLst>
                  <a:outerShdw blurRad="38100" dist="38100" dir="2700000" algn="tl">
                    <a:srgbClr val="000000">
                      <a:alpha val="43137"/>
                    </a:srgbClr>
                  </a:outerShdw>
                </a:effectLst>
              </a:rPr>
              <a:t>Gaurav</a:t>
            </a:r>
            <a:r>
              <a:rPr lang="en-IN" sz="2400" b="1" dirty="0">
                <a:solidFill>
                  <a:schemeClr val="accent6">
                    <a:lumMod val="50000"/>
                  </a:schemeClr>
                </a:solidFill>
                <a:effectLst>
                  <a:outerShdw blurRad="38100" dist="38100" dir="2700000" algn="tl">
                    <a:srgbClr val="000000">
                      <a:alpha val="43137"/>
                    </a:srgbClr>
                  </a:outerShdw>
                </a:effectLst>
              </a:rPr>
              <a:t> M</a:t>
            </a:r>
          </a:p>
          <a:p>
            <a:pPr marL="0" indent="0" algn="just">
              <a:buNone/>
            </a:pPr>
            <a:r>
              <a:rPr lang="en-IN" sz="2400" b="1" dirty="0" err="1">
                <a:solidFill>
                  <a:schemeClr val="accent6">
                    <a:lumMod val="50000"/>
                  </a:schemeClr>
                </a:solidFill>
                <a:effectLst>
                  <a:outerShdw blurRad="38100" dist="38100" dir="2700000" algn="tl">
                    <a:srgbClr val="000000">
                      <a:alpha val="43137"/>
                    </a:srgbClr>
                  </a:outerShdw>
                </a:effectLst>
              </a:rPr>
              <a:t>Atchuth</a:t>
            </a:r>
            <a:r>
              <a:rPr lang="en-IN" sz="2400" b="1" dirty="0">
                <a:solidFill>
                  <a:schemeClr val="accent6">
                    <a:lumMod val="50000"/>
                  </a:schemeClr>
                </a:solidFill>
                <a:effectLst>
                  <a:outerShdw blurRad="38100" dist="38100" dir="2700000" algn="tl">
                    <a:srgbClr val="000000">
                      <a:alpha val="43137"/>
                    </a:srgbClr>
                  </a:outerShdw>
                </a:effectLst>
              </a:rPr>
              <a:t> </a:t>
            </a:r>
            <a:r>
              <a:rPr lang="en-IN" sz="2400" b="1" dirty="0" err="1">
                <a:solidFill>
                  <a:schemeClr val="accent6">
                    <a:lumMod val="50000"/>
                  </a:schemeClr>
                </a:solidFill>
                <a:effectLst>
                  <a:outerShdw blurRad="38100" dist="38100" dir="2700000" algn="tl">
                    <a:srgbClr val="000000">
                      <a:alpha val="43137"/>
                    </a:srgbClr>
                  </a:outerShdw>
                </a:effectLst>
              </a:rPr>
              <a:t>kumar</a:t>
            </a:r>
            <a:r>
              <a:rPr lang="en-IN" sz="2400" b="1" dirty="0">
                <a:solidFill>
                  <a:schemeClr val="accent6">
                    <a:lumMod val="50000"/>
                  </a:schemeClr>
                </a:solidFill>
                <a:effectLst>
                  <a:outerShdw blurRad="38100" dist="38100" dir="2700000" algn="tl">
                    <a:srgbClr val="000000">
                      <a:alpha val="43137"/>
                    </a:srgbClr>
                  </a:outerShdw>
                </a:effectLst>
              </a:rPr>
              <a:t> R</a:t>
            </a:r>
          </a:p>
          <a:p>
            <a:pPr marL="0" indent="0" algn="just">
              <a:buNone/>
            </a:pPr>
            <a:r>
              <a:rPr lang="en-IN" sz="2400" b="1" dirty="0">
                <a:solidFill>
                  <a:schemeClr val="accent6">
                    <a:lumMod val="50000"/>
                  </a:schemeClr>
                </a:solidFill>
                <a:effectLst>
                  <a:outerShdw blurRad="38100" dist="38100" dir="2700000" algn="tl">
                    <a:srgbClr val="000000">
                      <a:alpha val="43137"/>
                    </a:srgbClr>
                  </a:outerShdw>
                </a:effectLst>
              </a:rPr>
              <a:t>Rahul C</a:t>
            </a:r>
          </a:p>
          <a:p>
            <a:pPr marL="0" indent="0" algn="just">
              <a:buNone/>
            </a:pPr>
            <a:r>
              <a:rPr lang="en-IN" sz="2400" b="1" dirty="0" err="1">
                <a:solidFill>
                  <a:schemeClr val="accent6">
                    <a:lumMod val="50000"/>
                  </a:schemeClr>
                </a:solidFill>
                <a:effectLst>
                  <a:outerShdw blurRad="38100" dist="38100" dir="2700000" algn="tl">
                    <a:srgbClr val="000000">
                      <a:alpha val="43137"/>
                    </a:srgbClr>
                  </a:outerShdw>
                </a:effectLst>
              </a:rPr>
              <a:t>Shivraj</a:t>
            </a:r>
            <a:r>
              <a:rPr lang="en-IN" sz="2400" b="1" dirty="0">
                <a:solidFill>
                  <a:schemeClr val="accent6">
                    <a:lumMod val="50000"/>
                  </a:schemeClr>
                </a:solidFill>
                <a:effectLst>
                  <a:outerShdw blurRad="38100" dist="38100" dir="2700000" algn="tl">
                    <a:srgbClr val="000000">
                      <a:alpha val="43137"/>
                    </a:srgbClr>
                  </a:outerShdw>
                </a:effectLst>
              </a:rPr>
              <a:t> S</a:t>
            </a:r>
          </a:p>
        </p:txBody>
      </p:sp>
      <p:sp>
        <p:nvSpPr>
          <p:cNvPr id="10" name="Content Placeholder 9"/>
          <p:cNvSpPr>
            <a:spLocks noGrp="1"/>
          </p:cNvSpPr>
          <p:nvPr>
            <p:ph sz="half" idx="2"/>
          </p:nvPr>
        </p:nvSpPr>
        <p:spPr/>
        <p:txBody>
          <a:bodyPr>
            <a:normAutofit lnSpcReduction="10000"/>
          </a:bodyPr>
          <a:lstStyle/>
          <a:p>
            <a:endParaRPr lang="en-US"/>
          </a:p>
        </p:txBody>
      </p:sp>
      <p:pic>
        <p:nvPicPr>
          <p:cNvPr id="14338" name="Picture 2" descr="An NLP Tutorial for Text Classification | Toptal®"/>
          <p:cNvPicPr>
            <a:picLocks noChangeAspect="1" noChangeArrowheads="1"/>
          </p:cNvPicPr>
          <p:nvPr/>
        </p:nvPicPr>
        <p:blipFill>
          <a:blip r:embed="rId2"/>
          <a:srcRect/>
          <a:stretch>
            <a:fillRect/>
          </a:stretch>
        </p:blipFill>
        <p:spPr bwMode="auto">
          <a:xfrm>
            <a:off x="7158446" y="1985554"/>
            <a:ext cx="4376057" cy="3931920"/>
          </a:xfrm>
          <a:prstGeom prst="rect">
            <a:avLst/>
          </a:prstGeom>
          <a:noFill/>
        </p:spPr>
      </p:pic>
    </p:spTree>
    <p:extLst>
      <p:ext uri="{BB962C8B-B14F-4D97-AF65-F5344CB8AC3E}">
        <p14:creationId xmlns:p14="http://schemas.microsoft.com/office/powerpoint/2010/main" val="25621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rial Black" panose="020B0A04020102020204" pitchFamily="34" charset="0"/>
              </a:rPr>
              <a:t>CONTENT</a:t>
            </a:r>
          </a:p>
        </p:txBody>
      </p:sp>
      <p:sp>
        <p:nvSpPr>
          <p:cNvPr id="7" name="Content Placeholder 6"/>
          <p:cNvSpPr>
            <a:spLocks noGrp="1"/>
          </p:cNvSpPr>
          <p:nvPr>
            <p:ph idx="1"/>
          </p:nvPr>
        </p:nvSpPr>
        <p:spPr/>
        <p:txBody>
          <a:bodyPr>
            <a:normAutofit lnSpcReduction="10000"/>
          </a:bodyPr>
          <a:lstStyle/>
          <a:p>
            <a:r>
              <a:rPr lang="en-IN" b="1" dirty="0"/>
              <a:t>Project Structure</a:t>
            </a:r>
          </a:p>
          <a:p>
            <a:r>
              <a:rPr lang="en-IN" b="1" dirty="0"/>
              <a:t>Objective</a:t>
            </a:r>
          </a:p>
          <a:p>
            <a:r>
              <a:rPr lang="en-IN" b="1" dirty="0"/>
              <a:t>Introduction to Text Classification</a:t>
            </a:r>
          </a:p>
          <a:p>
            <a:pPr>
              <a:buNone/>
            </a:pPr>
            <a:r>
              <a:rPr lang="en-IN" b="1" dirty="0"/>
              <a:t>      On Hotel Review</a:t>
            </a:r>
          </a:p>
          <a:p>
            <a:r>
              <a:rPr lang="en-IN" b="1" dirty="0"/>
              <a:t>About Dataset</a:t>
            </a:r>
          </a:p>
          <a:p>
            <a:r>
              <a:rPr lang="en-IN" b="1" dirty="0"/>
              <a:t>Data </a:t>
            </a:r>
            <a:r>
              <a:rPr lang="en-IN" b="1" dirty="0" err="1"/>
              <a:t>Preprocessing</a:t>
            </a:r>
            <a:endParaRPr lang="en-IN" b="1" dirty="0"/>
          </a:p>
          <a:p>
            <a:r>
              <a:rPr lang="en-IN" b="1" dirty="0"/>
              <a:t>EDA</a:t>
            </a:r>
          </a:p>
          <a:p>
            <a:r>
              <a:rPr lang="en-IN" b="1" dirty="0"/>
              <a:t>Model Building</a:t>
            </a:r>
          </a:p>
          <a:p>
            <a:r>
              <a:rPr lang="en-IN" b="1" dirty="0"/>
              <a:t>Model Selection</a:t>
            </a:r>
          </a:p>
          <a:p>
            <a:r>
              <a:rPr lang="en-IN" b="1" dirty="0"/>
              <a:t>Deployment</a:t>
            </a:r>
          </a:p>
        </p:txBody>
      </p:sp>
      <p:pic>
        <p:nvPicPr>
          <p:cNvPr id="13314" name="Picture 2" descr="Automated Text Classification Using Machine Learning | by ..."/>
          <p:cNvPicPr>
            <a:picLocks noChangeAspect="1" noChangeArrowheads="1"/>
          </p:cNvPicPr>
          <p:nvPr/>
        </p:nvPicPr>
        <p:blipFill>
          <a:blip r:embed="rId2"/>
          <a:srcRect/>
          <a:stretch>
            <a:fillRect/>
          </a:stretch>
        </p:blipFill>
        <p:spPr bwMode="auto">
          <a:xfrm>
            <a:off x="7001691" y="1770016"/>
            <a:ext cx="5003075" cy="3781697"/>
          </a:xfrm>
          <a:prstGeom prst="rect">
            <a:avLst/>
          </a:prstGeom>
          <a:noFill/>
        </p:spPr>
      </p:pic>
    </p:spTree>
    <p:extLst>
      <p:ext uri="{BB962C8B-B14F-4D97-AF65-F5344CB8AC3E}">
        <p14:creationId xmlns:p14="http://schemas.microsoft.com/office/powerpoint/2010/main" val="2793876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rial Black" panose="020B0A04020102020204" pitchFamily="34" charset="0"/>
              </a:rPr>
              <a:t>Project</a:t>
            </a:r>
            <a:r>
              <a:rPr lang="en-IN" dirty="0"/>
              <a:t> </a:t>
            </a:r>
            <a:r>
              <a:rPr lang="en-IN" dirty="0">
                <a:latin typeface="Arial Black" panose="020B0A04020102020204" pitchFamily="34" charset="0"/>
              </a:rPr>
              <a:t>Structure</a:t>
            </a:r>
          </a:p>
        </p:txBody>
      </p:sp>
      <p:sp>
        <p:nvSpPr>
          <p:cNvPr id="3" name="Content Placeholder 2"/>
          <p:cNvSpPr>
            <a:spLocks noGrp="1"/>
          </p:cNvSpPr>
          <p:nvPr>
            <p:ph idx="1"/>
          </p:nvPr>
        </p:nvSpPr>
        <p:spPr>
          <a:xfrm>
            <a:off x="2589212" y="1160585"/>
            <a:ext cx="8915400" cy="4750637"/>
          </a:xfrm>
        </p:spPr>
        <p:txBody>
          <a:bodyPr>
            <a:normAutofit lnSpcReduction="10000"/>
          </a:bodyPr>
          <a:lstStyle/>
          <a:p>
            <a:pPr algn="just"/>
            <a:r>
              <a:rPr lang="en-IN" b="1" dirty="0">
                <a:solidFill>
                  <a:schemeClr val="accent6">
                    <a:lumMod val="50000"/>
                  </a:schemeClr>
                </a:solidFill>
                <a:effectLst>
                  <a:outerShdw blurRad="38100" dist="38100" dir="2700000" algn="tl">
                    <a:srgbClr val="000000">
                      <a:alpha val="43137"/>
                    </a:srgbClr>
                  </a:outerShdw>
                </a:effectLst>
              </a:rPr>
              <a:t>Datasets</a:t>
            </a:r>
          </a:p>
          <a:p>
            <a:pPr algn="just">
              <a:buFont typeface="Wingdings" panose="05000000000000000000" pitchFamily="2" charset="2"/>
              <a:buChar char="§"/>
            </a:pPr>
            <a:r>
              <a:rPr lang="en-IN" dirty="0"/>
              <a:t>Import Libraries</a:t>
            </a:r>
          </a:p>
          <a:p>
            <a:pPr algn="just">
              <a:buFont typeface="Wingdings" panose="05000000000000000000" pitchFamily="2" charset="2"/>
              <a:buChar char="§"/>
            </a:pPr>
            <a:r>
              <a:rPr lang="en-IN" dirty="0"/>
              <a:t>Load Datasets</a:t>
            </a:r>
          </a:p>
          <a:p>
            <a:pPr algn="just"/>
            <a:r>
              <a:rPr lang="en-IN" b="1" dirty="0">
                <a:solidFill>
                  <a:schemeClr val="accent6">
                    <a:lumMod val="50000"/>
                  </a:schemeClr>
                </a:solidFill>
                <a:effectLst>
                  <a:outerShdw blurRad="38100" dist="38100" dir="2700000" algn="tl">
                    <a:srgbClr val="000000">
                      <a:alpha val="43137"/>
                    </a:srgbClr>
                  </a:outerShdw>
                </a:effectLst>
              </a:rPr>
              <a:t>Data </a:t>
            </a:r>
            <a:r>
              <a:rPr lang="en-IN" b="1" dirty="0" err="1">
                <a:solidFill>
                  <a:schemeClr val="accent6">
                    <a:lumMod val="50000"/>
                  </a:schemeClr>
                </a:solidFill>
                <a:effectLst>
                  <a:outerShdw blurRad="38100" dist="38100" dir="2700000" algn="tl">
                    <a:srgbClr val="000000">
                      <a:alpha val="43137"/>
                    </a:srgbClr>
                  </a:outerShdw>
                </a:effectLst>
              </a:rPr>
              <a:t>Preprocessing</a:t>
            </a:r>
            <a:r>
              <a:rPr lang="en-IN" b="1" dirty="0">
                <a:solidFill>
                  <a:schemeClr val="accent6">
                    <a:lumMod val="50000"/>
                  </a:schemeClr>
                </a:solidFill>
                <a:effectLst>
                  <a:outerShdw blurRad="38100" dist="38100" dir="2700000" algn="tl">
                    <a:srgbClr val="000000">
                      <a:alpha val="43137"/>
                    </a:srgbClr>
                  </a:outerShdw>
                </a:effectLst>
              </a:rPr>
              <a:t>  </a:t>
            </a:r>
          </a:p>
          <a:p>
            <a:pPr algn="just">
              <a:buFont typeface="Wingdings" panose="05000000000000000000" pitchFamily="2" charset="2"/>
              <a:buChar char="§"/>
            </a:pPr>
            <a:r>
              <a:rPr lang="en-US" b="1" dirty="0"/>
              <a:t>Text Preprocessing</a:t>
            </a:r>
            <a:r>
              <a:rPr lang="en-US" dirty="0"/>
              <a:t>: Tokenization, Lemmatization, </a:t>
            </a:r>
            <a:r>
              <a:rPr lang="en-US" dirty="0" err="1"/>
              <a:t>Stopwords</a:t>
            </a:r>
            <a:r>
              <a:rPr lang="en-US" dirty="0"/>
              <a:t> Removal, Punctuation Removal, Whitespace Removal</a:t>
            </a:r>
            <a:endParaRPr lang="en-IN" dirty="0"/>
          </a:p>
          <a:p>
            <a:pPr algn="just"/>
            <a:r>
              <a:rPr lang="en-IN" b="1" dirty="0">
                <a:solidFill>
                  <a:schemeClr val="accent6">
                    <a:lumMod val="50000"/>
                  </a:schemeClr>
                </a:solidFill>
                <a:effectLst>
                  <a:outerShdw blurRad="38100" dist="38100" dir="2700000" algn="tl">
                    <a:srgbClr val="000000">
                      <a:alpha val="43137"/>
                    </a:srgbClr>
                  </a:outerShdw>
                </a:effectLst>
              </a:rPr>
              <a:t>EDA </a:t>
            </a:r>
          </a:p>
          <a:p>
            <a:pPr algn="just">
              <a:buFont typeface="Arial" pitchFamily="34" charset="0"/>
              <a:buChar char="•"/>
            </a:pPr>
            <a:r>
              <a:rPr lang="en-US" dirty="0"/>
              <a:t>Class Distribution</a:t>
            </a:r>
          </a:p>
          <a:p>
            <a:pPr algn="just">
              <a:buFont typeface="Arial" pitchFamily="34" charset="0"/>
              <a:buChar char="•"/>
            </a:pPr>
            <a:r>
              <a:rPr lang="en-US" dirty="0"/>
              <a:t>Word Cloud</a:t>
            </a:r>
          </a:p>
          <a:p>
            <a:pPr algn="just">
              <a:buFont typeface="Arial" pitchFamily="34" charset="0"/>
              <a:buChar char="•"/>
            </a:pPr>
            <a:r>
              <a:rPr lang="en-US" dirty="0"/>
              <a:t>Sentiment Analysis</a:t>
            </a:r>
            <a:endParaRPr lang="en-IN" dirty="0"/>
          </a:p>
          <a:p>
            <a:pPr algn="just"/>
            <a:r>
              <a:rPr lang="en-IN" b="1" dirty="0">
                <a:solidFill>
                  <a:schemeClr val="accent6">
                    <a:lumMod val="50000"/>
                  </a:schemeClr>
                </a:solidFill>
                <a:effectLst>
                  <a:outerShdw blurRad="38100" dist="38100" dir="2700000" algn="tl">
                    <a:srgbClr val="000000">
                      <a:alpha val="43137"/>
                    </a:srgbClr>
                  </a:outerShdw>
                </a:effectLst>
              </a:rPr>
              <a:t>Model Building</a:t>
            </a:r>
          </a:p>
          <a:p>
            <a:pPr algn="just"/>
            <a:r>
              <a:rPr lang="en-IN" b="1" dirty="0">
                <a:solidFill>
                  <a:schemeClr val="accent6">
                    <a:lumMod val="50000"/>
                  </a:schemeClr>
                </a:solidFill>
                <a:effectLst>
                  <a:outerShdw blurRad="38100" dist="38100" dir="2700000" algn="tl">
                    <a:srgbClr val="000000">
                      <a:alpha val="43137"/>
                    </a:srgbClr>
                  </a:outerShdw>
                </a:effectLst>
              </a:rPr>
              <a:t>Model Selection</a:t>
            </a:r>
          </a:p>
          <a:p>
            <a:pPr algn="just"/>
            <a:r>
              <a:rPr lang="en-IN" b="1" dirty="0">
                <a:solidFill>
                  <a:schemeClr val="accent6">
                    <a:lumMod val="50000"/>
                  </a:schemeClr>
                </a:solidFill>
                <a:effectLst>
                  <a:outerShdw blurRad="38100" dist="38100" dir="2700000" algn="tl">
                    <a:srgbClr val="000000">
                      <a:alpha val="43137"/>
                    </a:srgbClr>
                  </a:outerShdw>
                </a:effectLst>
              </a:rPr>
              <a:t>Model Deployment</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002834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Objective</a:t>
            </a:r>
            <a:br>
              <a:rPr lang="en-IN" dirty="0"/>
            </a:br>
            <a:endParaRPr lang="en-IN" dirty="0"/>
          </a:p>
        </p:txBody>
      </p:sp>
      <p:sp>
        <p:nvSpPr>
          <p:cNvPr id="3" name="Content Placeholder 2"/>
          <p:cNvSpPr>
            <a:spLocks noGrp="1"/>
          </p:cNvSpPr>
          <p:nvPr>
            <p:ph idx="1"/>
          </p:nvPr>
        </p:nvSpPr>
        <p:spPr/>
        <p:txBody>
          <a:bodyPr/>
          <a:lstStyle/>
          <a:p>
            <a:pPr>
              <a:buNone/>
            </a:pPr>
            <a:r>
              <a:rPr lang="en-US" dirty="0"/>
              <a:t>	</a:t>
            </a:r>
            <a:r>
              <a:rPr lang="en-US" sz="2800" b="1" dirty="0">
                <a:solidFill>
                  <a:schemeClr val="tx2">
                    <a:lumMod val="75000"/>
                  </a:schemeClr>
                </a:solidFill>
                <a:latin typeface="Arial Black" pitchFamily="34" charset="0"/>
              </a:rPr>
              <a:t>“The objective of this project is to develop an automated text classification model that can accurately classify hotel reviews as positive or negative.”</a:t>
            </a:r>
            <a:endParaRPr lang="en-IN" sz="2800" b="1" dirty="0">
              <a:solidFill>
                <a:schemeClr val="tx2">
                  <a:lumMod val="75000"/>
                </a:schemeClr>
              </a:solidFill>
              <a:latin typeface="Arial Black" pitchFamily="34" charset="0"/>
            </a:endParaRPr>
          </a:p>
        </p:txBody>
      </p:sp>
    </p:spTree>
    <p:extLst>
      <p:ext uri="{BB962C8B-B14F-4D97-AF65-F5344CB8AC3E}">
        <p14:creationId xmlns:p14="http://schemas.microsoft.com/office/powerpoint/2010/main" val="1304710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79775" y="623888"/>
            <a:ext cx="8912225" cy="1281112"/>
          </a:xfrm>
        </p:spPr>
        <p:txBody>
          <a:bodyPr>
            <a:normAutofit/>
          </a:bodyPr>
          <a:lstStyle/>
          <a:p>
            <a:r>
              <a:rPr lang="en-IN" sz="3200" dirty="0">
                <a:latin typeface="Arial Black" panose="020B0A04020102020204" pitchFamily="34" charset="0"/>
              </a:rPr>
              <a:t>Introduction to Text Classification On Hotel Review</a:t>
            </a:r>
          </a:p>
        </p:txBody>
      </p:sp>
      <p:sp>
        <p:nvSpPr>
          <p:cNvPr id="3" name="Content Placeholder 2"/>
          <p:cNvSpPr>
            <a:spLocks noGrp="1"/>
          </p:cNvSpPr>
          <p:nvPr>
            <p:ph idx="4294967295"/>
          </p:nvPr>
        </p:nvSpPr>
        <p:spPr>
          <a:xfrm>
            <a:off x="1175657" y="1626577"/>
            <a:ext cx="10646229" cy="4721469"/>
          </a:xfrm>
        </p:spPr>
        <p:txBody>
          <a:bodyPr/>
          <a:lstStyle/>
          <a:p>
            <a:pPr algn="just"/>
            <a:r>
              <a:rPr lang="en-US" dirty="0" err="1"/>
              <a:t>Defination</a:t>
            </a:r>
            <a:r>
              <a:rPr lang="en-US" dirty="0"/>
              <a:t>:</a:t>
            </a:r>
          </a:p>
          <a:p>
            <a:pPr marL="0" indent="0" algn="just">
              <a:buNone/>
            </a:pPr>
            <a:r>
              <a:rPr lang="en-US" dirty="0"/>
              <a:t>		 Text classification, a fundamental task in natural language processing (NLP), involves assigning predefined categories or labels to text data. In the context of hotel reviews, text classification is used to automatically categorize reviews based on their sentiment—whether they are </a:t>
            </a:r>
            <a:r>
              <a:rPr lang="en-US" dirty="0" err="1"/>
              <a:t>positiveor</a:t>
            </a:r>
            <a:r>
              <a:rPr lang="en-US" dirty="0"/>
              <a:t> negative.</a:t>
            </a:r>
          </a:p>
          <a:p>
            <a:pPr algn="just"/>
            <a:r>
              <a:rPr lang="en-IN" dirty="0"/>
              <a:t>Purpose of </a:t>
            </a:r>
            <a:r>
              <a:rPr lang="en-US" dirty="0"/>
              <a:t>Text classification :</a:t>
            </a:r>
            <a:endParaRPr lang="en-IN" dirty="0"/>
          </a:p>
          <a:p>
            <a:pPr marL="0" indent="0" algn="just">
              <a:buNone/>
            </a:pPr>
            <a:r>
              <a:rPr lang="en-IN" dirty="0"/>
              <a:t> 		</a:t>
            </a:r>
            <a:r>
              <a:rPr lang="en-US" dirty="0"/>
              <a:t>The purpose of text classification is to automatically categorize or label text data into predefined classes or categories. This automation enables efficient analysis and understanding of large volumes of textual  information.</a:t>
            </a:r>
            <a:endParaRPr lang="en-IN" dirty="0"/>
          </a:p>
        </p:txBody>
      </p:sp>
    </p:spTree>
    <p:extLst>
      <p:ext uri="{BB962C8B-B14F-4D97-AF65-F5344CB8AC3E}">
        <p14:creationId xmlns:p14="http://schemas.microsoft.com/office/powerpoint/2010/main" val="4085310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latin typeface="Arial Black" panose="020B0A04020102020204" pitchFamily="34" charset="0"/>
              </a:rPr>
              <a:t>ABOUT DATASET</a:t>
            </a:r>
          </a:p>
        </p:txBody>
      </p:sp>
      <p:sp>
        <p:nvSpPr>
          <p:cNvPr id="5" name="Content Placeholder 4"/>
          <p:cNvSpPr>
            <a:spLocks noGrp="1"/>
          </p:cNvSpPr>
          <p:nvPr>
            <p:ph idx="1"/>
          </p:nvPr>
        </p:nvSpPr>
        <p:spPr>
          <a:xfrm>
            <a:off x="2589212" y="1301262"/>
            <a:ext cx="8915400" cy="4609960"/>
          </a:xfrm>
        </p:spPr>
        <p:txBody>
          <a:bodyPr/>
          <a:lstStyle/>
          <a:p>
            <a:r>
              <a:rPr lang="en-US" altLang="en-US" b="1" dirty="0">
                <a:solidFill>
                  <a:schemeClr val="tx1"/>
                </a:solidFill>
                <a:latin typeface="Arial" panose="020B0604020202020204" pitchFamily="34" charset="0"/>
              </a:rPr>
              <a:t>Description</a:t>
            </a:r>
            <a:r>
              <a:rPr lang="en-US" altLang="en-US" dirty="0">
                <a:solidFill>
                  <a:schemeClr val="tx1"/>
                </a:solidFill>
                <a:latin typeface="Arial" panose="020B0604020202020204" pitchFamily="34" charset="0"/>
              </a:rPr>
              <a:t>:</a:t>
            </a:r>
            <a:r>
              <a:rPr lang="en-US" dirty="0"/>
              <a:t> the dataset likely contains the following types of data: Review text and feedback</a:t>
            </a:r>
          </a:p>
          <a:p>
            <a:r>
              <a:rPr lang="en-IN" b="1" dirty="0">
                <a:solidFill>
                  <a:schemeClr val="tx1"/>
                </a:solidFill>
                <a:latin typeface="Arial" panose="020B0604020202020204" pitchFamily="34" charset="0"/>
              </a:rPr>
              <a:t>Purpose:</a:t>
            </a:r>
            <a:r>
              <a:rPr lang="en-US" dirty="0"/>
              <a:t> To train a text classification model that can predict the category of hotel reviews.</a:t>
            </a:r>
          </a:p>
          <a:p>
            <a:r>
              <a:rPr lang="en-US" b="1" dirty="0">
                <a:solidFill>
                  <a:schemeClr val="tx1"/>
                </a:solidFill>
                <a:latin typeface="Arial" panose="020B0604020202020204" pitchFamily="34" charset="0"/>
              </a:rPr>
              <a:t>Dataset Using</a:t>
            </a:r>
            <a:r>
              <a:rPr lang="en-US" dirty="0"/>
              <a:t>: Hotel Review.csv</a:t>
            </a:r>
          </a:p>
          <a:p>
            <a:r>
              <a:rPr lang="en-US" dirty="0"/>
              <a:t>No. of Rows: 20491</a:t>
            </a:r>
          </a:p>
          <a:p>
            <a:r>
              <a:rPr lang="en-US" dirty="0" err="1"/>
              <a:t>No.of</a:t>
            </a:r>
            <a:r>
              <a:rPr lang="en-US" dirty="0"/>
              <a:t> Columns: 2</a:t>
            </a:r>
          </a:p>
          <a:p>
            <a:endParaRPr lang="en-US" dirty="0"/>
          </a:p>
          <a:p>
            <a:endParaRPr lang="en-IN" dirty="0"/>
          </a:p>
        </p:txBody>
      </p:sp>
      <p:pic>
        <p:nvPicPr>
          <p:cNvPr id="9219" name="Picture 3"/>
          <p:cNvPicPr>
            <a:picLocks noChangeAspect="1" noChangeArrowheads="1"/>
          </p:cNvPicPr>
          <p:nvPr/>
        </p:nvPicPr>
        <p:blipFill>
          <a:blip r:embed="rId2"/>
          <a:srcRect/>
          <a:stretch>
            <a:fillRect/>
          </a:stretch>
        </p:blipFill>
        <p:spPr bwMode="auto">
          <a:xfrm>
            <a:off x="5468167" y="2968670"/>
            <a:ext cx="6115050" cy="3719513"/>
          </a:xfrm>
          <a:prstGeom prst="rect">
            <a:avLst/>
          </a:prstGeom>
          <a:noFill/>
          <a:ln w="9525">
            <a:noFill/>
            <a:miter lim="800000"/>
            <a:headEnd/>
            <a:tailEnd/>
          </a:ln>
          <a:effectLst/>
        </p:spPr>
      </p:pic>
    </p:spTree>
    <p:extLst>
      <p:ext uri="{BB962C8B-B14F-4D97-AF65-F5344CB8AC3E}">
        <p14:creationId xmlns:p14="http://schemas.microsoft.com/office/powerpoint/2010/main" val="3363084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713" y="624110"/>
            <a:ext cx="9134899" cy="792566"/>
          </a:xfrm>
        </p:spPr>
        <p:txBody>
          <a:bodyPr>
            <a:normAutofit fontScale="90000"/>
          </a:bodyPr>
          <a:lstStyle/>
          <a:p>
            <a:r>
              <a:rPr lang="en-IN" b="1" dirty="0"/>
              <a:t>Data Pre-processing</a:t>
            </a:r>
            <a:br>
              <a:rPr lang="en-IN" b="1" dirty="0"/>
            </a:br>
            <a:r>
              <a:rPr lang="en-IN" dirty="0"/>
              <a:t> </a:t>
            </a:r>
          </a:p>
        </p:txBody>
      </p:sp>
      <p:sp>
        <p:nvSpPr>
          <p:cNvPr id="3" name="Content Placeholder 2"/>
          <p:cNvSpPr>
            <a:spLocks noGrp="1"/>
          </p:cNvSpPr>
          <p:nvPr>
            <p:ph idx="1"/>
          </p:nvPr>
        </p:nvSpPr>
        <p:spPr>
          <a:xfrm>
            <a:off x="2163651" y="1416676"/>
            <a:ext cx="9340961" cy="5318232"/>
          </a:xfrm>
        </p:spPr>
        <p:txBody>
          <a:bodyPr>
            <a:normAutofit fontScale="92500" lnSpcReduction="20000"/>
          </a:bodyPr>
          <a:lstStyle/>
          <a:p>
            <a:pPr>
              <a:buNone/>
            </a:pPr>
            <a:r>
              <a:rPr lang="en-US" sz="2400" b="1" dirty="0"/>
              <a:t>Text Preprocessing</a:t>
            </a:r>
          </a:p>
          <a:p>
            <a:r>
              <a:rPr lang="en-US" b="1" dirty="0"/>
              <a:t>Tokenization</a:t>
            </a:r>
            <a:r>
              <a:rPr lang="en-US" dirty="0"/>
              <a:t>: Splitting text into individual words or tokens.</a:t>
            </a:r>
          </a:p>
          <a:p>
            <a:r>
              <a:rPr lang="en-US" b="1" dirty="0"/>
              <a:t>Lemmatization</a:t>
            </a:r>
            <a:r>
              <a:rPr lang="en-US" dirty="0"/>
              <a:t>: Reducing words to their base or root form.</a:t>
            </a:r>
          </a:p>
          <a:p>
            <a:r>
              <a:rPr lang="en-US" b="1" dirty="0" err="1"/>
              <a:t>Stopwords</a:t>
            </a:r>
            <a:r>
              <a:rPr lang="en-US" b="1" dirty="0"/>
              <a:t>  Removal</a:t>
            </a:r>
            <a:r>
              <a:rPr lang="en-US" dirty="0"/>
              <a:t>: Removing common words that don't contribute to the sentiment.</a:t>
            </a:r>
          </a:p>
          <a:p>
            <a:r>
              <a:rPr lang="en-US" b="1" dirty="0"/>
              <a:t>Punctuation Removal</a:t>
            </a:r>
            <a:r>
              <a:rPr lang="en-US" dirty="0"/>
              <a:t>: Eliminating punctuation to clean the text further.</a:t>
            </a:r>
          </a:p>
          <a:p>
            <a:r>
              <a:rPr lang="en-US" b="1" dirty="0"/>
              <a:t>Whitespace Removal</a:t>
            </a:r>
            <a:r>
              <a:rPr lang="en-US" dirty="0"/>
              <a:t>: Removing unnecessary spaces.</a:t>
            </a:r>
          </a:p>
          <a:p>
            <a:endParaRPr lang="en-US" dirty="0">
              <a:solidFill>
                <a:srgbClr val="C00000"/>
              </a:solidFill>
            </a:endParaRPr>
          </a:p>
          <a:p>
            <a:r>
              <a:rPr lang="en-US" dirty="0">
                <a:solidFill>
                  <a:srgbClr val="C00000"/>
                </a:solidFill>
              </a:rPr>
              <a:t>Important modules/ packages installed for pre processing</a:t>
            </a:r>
          </a:p>
          <a:p>
            <a:pPr>
              <a:buFont typeface="Wingdings" panose="05000000000000000000" pitchFamily="2" charset="2"/>
              <a:buChar char="v"/>
            </a:pPr>
            <a:r>
              <a:rPr lang="en-IN" dirty="0"/>
              <a:t>import </a:t>
            </a:r>
            <a:r>
              <a:rPr lang="en-IN" dirty="0" err="1"/>
              <a:t>nltk</a:t>
            </a:r>
            <a:endParaRPr lang="en-IN" dirty="0"/>
          </a:p>
          <a:p>
            <a:pPr>
              <a:buFont typeface="Wingdings" panose="05000000000000000000" pitchFamily="2" charset="2"/>
              <a:buChar char="v"/>
            </a:pPr>
            <a:r>
              <a:rPr lang="en-IN" dirty="0"/>
              <a:t>from </a:t>
            </a:r>
            <a:r>
              <a:rPr lang="en-IN" dirty="0" err="1"/>
              <a:t>nltk.corpus</a:t>
            </a:r>
            <a:r>
              <a:rPr lang="en-IN" dirty="0"/>
              <a:t> import </a:t>
            </a:r>
            <a:r>
              <a:rPr lang="en-IN" dirty="0" err="1"/>
              <a:t>stopwords</a:t>
            </a:r>
            <a:endParaRPr lang="en-IN" dirty="0"/>
          </a:p>
          <a:p>
            <a:pPr>
              <a:buFont typeface="Wingdings" panose="05000000000000000000" pitchFamily="2" charset="2"/>
              <a:buChar char="v"/>
            </a:pPr>
            <a:r>
              <a:rPr lang="en-IN" dirty="0"/>
              <a:t>from </a:t>
            </a:r>
            <a:r>
              <a:rPr lang="en-IN" dirty="0" err="1"/>
              <a:t>nltk.stem</a:t>
            </a:r>
            <a:r>
              <a:rPr lang="en-IN" dirty="0"/>
              <a:t> import </a:t>
            </a:r>
            <a:r>
              <a:rPr lang="en-IN" dirty="0" err="1"/>
              <a:t>WordNetLemmatizer</a:t>
            </a:r>
            <a:endParaRPr lang="en-IN" dirty="0"/>
          </a:p>
          <a:p>
            <a:pPr>
              <a:buFont typeface="Wingdings" panose="05000000000000000000" pitchFamily="2" charset="2"/>
              <a:buChar char="v"/>
            </a:pPr>
            <a:r>
              <a:rPr lang="en-IN" dirty="0"/>
              <a:t>from </a:t>
            </a:r>
            <a:r>
              <a:rPr lang="en-IN" dirty="0" err="1"/>
              <a:t>sklearn.feature_extraction.text</a:t>
            </a:r>
            <a:r>
              <a:rPr lang="en-IN" dirty="0"/>
              <a:t> import </a:t>
            </a:r>
            <a:r>
              <a:rPr lang="en-IN" dirty="0" err="1"/>
              <a:t>TfidfVectorizer</a:t>
            </a:r>
            <a:endParaRPr lang="en-IN" dirty="0"/>
          </a:p>
          <a:p>
            <a:pPr>
              <a:buFont typeface="Wingdings" panose="05000000000000000000" pitchFamily="2" charset="2"/>
              <a:buChar char="v"/>
            </a:pPr>
            <a:r>
              <a:rPr lang="en-IN" dirty="0"/>
              <a:t>      # Download necessary NLTK data</a:t>
            </a:r>
          </a:p>
          <a:p>
            <a:pPr>
              <a:buFont typeface="Wingdings" panose="05000000000000000000" pitchFamily="2" charset="2"/>
              <a:buChar char="v"/>
            </a:pPr>
            <a:r>
              <a:rPr lang="en-IN" dirty="0" err="1"/>
              <a:t>nltk.download</a:t>
            </a:r>
            <a:r>
              <a:rPr lang="en-IN" dirty="0"/>
              <a:t>('</a:t>
            </a:r>
            <a:r>
              <a:rPr lang="en-IN" dirty="0" err="1"/>
              <a:t>stopwords</a:t>
            </a:r>
            <a:r>
              <a:rPr lang="en-IN" dirty="0"/>
              <a:t>')</a:t>
            </a:r>
          </a:p>
          <a:p>
            <a:pPr>
              <a:buFont typeface="Wingdings" panose="05000000000000000000" pitchFamily="2" charset="2"/>
              <a:buChar char="v"/>
            </a:pPr>
            <a:r>
              <a:rPr lang="en-IN" dirty="0" err="1"/>
              <a:t>nltk.download</a:t>
            </a:r>
            <a:r>
              <a:rPr lang="en-IN" dirty="0"/>
              <a:t>('</a:t>
            </a:r>
            <a:r>
              <a:rPr lang="en-IN" dirty="0" err="1"/>
              <a:t>wordnet</a:t>
            </a:r>
            <a:r>
              <a:rPr lang="en-IN" dirty="0"/>
              <a:t>')</a:t>
            </a:r>
          </a:p>
          <a:p>
            <a:endParaRPr lang="en-IN" dirty="0"/>
          </a:p>
        </p:txBody>
      </p:sp>
    </p:spTree>
    <p:extLst>
      <p:ext uri="{BB962C8B-B14F-4D97-AF65-F5344CB8AC3E}">
        <p14:creationId xmlns:p14="http://schemas.microsoft.com/office/powerpoint/2010/main" val="146494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310935"/>
            <a:ext cx="8911687" cy="1280890"/>
          </a:xfrm>
        </p:spPr>
        <p:txBody>
          <a:bodyPr/>
          <a:lstStyle/>
          <a:p>
            <a:r>
              <a:rPr lang="en-IN" dirty="0"/>
              <a:t>EDA</a:t>
            </a:r>
          </a:p>
        </p:txBody>
      </p:sp>
      <p:sp>
        <p:nvSpPr>
          <p:cNvPr id="7" name="Content Placeholder 6"/>
          <p:cNvSpPr>
            <a:spLocks noGrp="1"/>
          </p:cNvSpPr>
          <p:nvPr>
            <p:ph idx="1"/>
          </p:nvPr>
        </p:nvSpPr>
        <p:spPr>
          <a:xfrm>
            <a:off x="2589212" y="1339403"/>
            <a:ext cx="8915400" cy="4571819"/>
          </a:xfrm>
        </p:spPr>
        <p:txBody>
          <a:bodyPr/>
          <a:lstStyle/>
          <a:p>
            <a:pPr algn="just"/>
            <a:r>
              <a:rPr lang="en-US" b="1" dirty="0"/>
              <a:t>Class Distribution</a:t>
            </a:r>
            <a:r>
              <a:rPr lang="en-US" dirty="0"/>
              <a:t>: Visualize the distribution of positive and negative reviews.</a:t>
            </a:r>
          </a:p>
          <a:p>
            <a:pPr algn="just"/>
            <a:r>
              <a:rPr lang="en-US" b="1" dirty="0"/>
              <a:t>Word Cloud</a:t>
            </a:r>
            <a:r>
              <a:rPr lang="en-US" dirty="0"/>
              <a:t>: Generate a word cloud to display the most frequent words in the reviews.</a:t>
            </a:r>
          </a:p>
          <a:p>
            <a:pPr algn="just"/>
            <a:r>
              <a:rPr lang="en-US" b="1" dirty="0"/>
              <a:t>Sentiment Analysis</a:t>
            </a:r>
            <a:r>
              <a:rPr lang="en-US" dirty="0"/>
              <a:t>: Perform a basic sentiment analysis to understand the polarity of reviews.</a:t>
            </a:r>
          </a:p>
        </p:txBody>
      </p:sp>
      <p:pic>
        <p:nvPicPr>
          <p:cNvPr id="3" name="Picture 2"/>
          <p:cNvPicPr>
            <a:picLocks noChangeAspect="1"/>
          </p:cNvPicPr>
          <p:nvPr/>
        </p:nvPicPr>
        <p:blipFill>
          <a:blip r:embed="rId2"/>
          <a:stretch>
            <a:fillRect/>
          </a:stretch>
        </p:blipFill>
        <p:spPr>
          <a:xfrm>
            <a:off x="3000777" y="3125137"/>
            <a:ext cx="7263685" cy="3501377"/>
          </a:xfrm>
          <a:prstGeom prst="rect">
            <a:avLst/>
          </a:prstGeom>
        </p:spPr>
      </p:pic>
    </p:spTree>
    <p:extLst>
      <p:ext uri="{BB962C8B-B14F-4D97-AF65-F5344CB8AC3E}">
        <p14:creationId xmlns:p14="http://schemas.microsoft.com/office/powerpoint/2010/main" val="223644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Word Cloud</a:t>
            </a:r>
            <a:endParaRPr lang="en-US" dirty="0"/>
          </a:p>
        </p:txBody>
      </p:sp>
      <p:pic>
        <p:nvPicPr>
          <p:cNvPr id="4" name="Content Placeholder 3"/>
          <p:cNvPicPr>
            <a:picLocks noGrp="1" noChangeAspect="1"/>
          </p:cNvPicPr>
          <p:nvPr>
            <p:ph idx="1"/>
          </p:nvPr>
        </p:nvPicPr>
        <p:blipFill>
          <a:blip r:embed="rId2"/>
          <a:stretch>
            <a:fillRect/>
          </a:stretch>
        </p:blipFill>
        <p:spPr>
          <a:xfrm>
            <a:off x="1584101" y="2318196"/>
            <a:ext cx="9693701" cy="3825027"/>
          </a:xfrm>
          <a:prstGeom prst="rect">
            <a:avLst/>
          </a:prstGeom>
        </p:spPr>
      </p:pic>
    </p:spTree>
    <p:extLst>
      <p:ext uri="{BB962C8B-B14F-4D97-AF65-F5344CB8AC3E}">
        <p14:creationId xmlns:p14="http://schemas.microsoft.com/office/powerpoint/2010/main" val="3576355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Model Building</a:t>
            </a:r>
            <a:br>
              <a:rPr lang="en-IN" b="1" dirty="0"/>
            </a:br>
            <a:endParaRPr lang="en-IN" dirty="0"/>
          </a:p>
        </p:txBody>
      </p:sp>
      <p:sp>
        <p:nvSpPr>
          <p:cNvPr id="3" name="Content Placeholder 2"/>
          <p:cNvSpPr>
            <a:spLocks noGrp="1"/>
          </p:cNvSpPr>
          <p:nvPr>
            <p:ph idx="1"/>
          </p:nvPr>
        </p:nvSpPr>
        <p:spPr>
          <a:xfrm>
            <a:off x="2589212" y="1449976"/>
            <a:ext cx="8915400" cy="4461245"/>
          </a:xfrm>
        </p:spPr>
        <p:txBody>
          <a:bodyPr>
            <a:normAutofit lnSpcReduction="10000"/>
          </a:bodyPr>
          <a:lstStyle/>
          <a:p>
            <a:pPr algn="just"/>
            <a:r>
              <a:rPr lang="en-US" b="1" dirty="0"/>
              <a:t>List of Models: </a:t>
            </a:r>
            <a:r>
              <a:rPr lang="en-US" dirty="0"/>
              <a:t>Logistic Regression, Random Forest, SVM.</a:t>
            </a:r>
          </a:p>
          <a:p>
            <a:pPr algn="just"/>
            <a:r>
              <a:rPr lang="en-US" b="1" dirty="0" err="1"/>
              <a:t>Vectorization</a:t>
            </a:r>
            <a:r>
              <a:rPr lang="en-US" dirty="0"/>
              <a:t>:  Transformed the text data using techniques like TF-IDF.</a:t>
            </a:r>
          </a:p>
          <a:p>
            <a:pPr algn="just"/>
            <a:r>
              <a:rPr lang="en-US" b="1" dirty="0"/>
              <a:t>Model Training</a:t>
            </a:r>
            <a:r>
              <a:rPr lang="en-US" dirty="0"/>
              <a:t>: trained each model, including  </a:t>
            </a:r>
            <a:r>
              <a:rPr lang="en-US" dirty="0" err="1"/>
              <a:t>hyperparameter</a:t>
            </a:r>
            <a:r>
              <a:rPr lang="en-US" dirty="0"/>
              <a:t> tuning and validation techniques like cross-validation.</a:t>
            </a:r>
          </a:p>
          <a:p>
            <a:pPr algn="just">
              <a:buFont typeface="Wingdings" pitchFamily="2" charset="2"/>
              <a:buChar char="§"/>
            </a:pPr>
            <a:r>
              <a:rPr lang="en-US" b="1" dirty="0"/>
              <a:t>Model Evaluation</a:t>
            </a:r>
            <a:r>
              <a:rPr lang="en-US" dirty="0"/>
              <a:t>:</a:t>
            </a:r>
          </a:p>
          <a:p>
            <a:pPr algn="just">
              <a:buFont typeface="Wingdings" pitchFamily="2" charset="2"/>
              <a:buChar char="§"/>
            </a:pPr>
            <a:r>
              <a:rPr lang="en-US" b="1" dirty="0"/>
              <a:t>Accuracy</a:t>
            </a:r>
            <a:r>
              <a:rPr lang="en-US" dirty="0"/>
              <a:t>: Overall correctness of the model.</a:t>
            </a:r>
          </a:p>
          <a:p>
            <a:pPr algn="just">
              <a:buFont typeface="Wingdings" pitchFamily="2" charset="2"/>
              <a:buChar char="§"/>
            </a:pPr>
            <a:r>
              <a:rPr lang="en-US" b="1" dirty="0"/>
              <a:t>Precision</a:t>
            </a:r>
            <a:r>
              <a:rPr lang="en-US" dirty="0"/>
              <a:t>: Correctness of positive predictions.</a:t>
            </a:r>
          </a:p>
          <a:p>
            <a:pPr algn="just">
              <a:buFont typeface="Wingdings" pitchFamily="2" charset="2"/>
              <a:buChar char="§"/>
            </a:pPr>
            <a:r>
              <a:rPr lang="en-US" b="1" dirty="0"/>
              <a:t>Recall</a:t>
            </a:r>
            <a:r>
              <a:rPr lang="en-US" dirty="0"/>
              <a:t>: Ability to find all positive instances.</a:t>
            </a:r>
          </a:p>
          <a:p>
            <a:pPr algn="just">
              <a:buFont typeface="Wingdings" pitchFamily="2" charset="2"/>
              <a:buChar char="§"/>
            </a:pPr>
            <a:r>
              <a:rPr lang="en-US" b="1" dirty="0"/>
              <a:t>F1-Score</a:t>
            </a:r>
            <a:r>
              <a:rPr lang="en-US" dirty="0"/>
              <a:t>: Balance between precision and recall.</a:t>
            </a:r>
          </a:p>
          <a:p>
            <a:pPr algn="just"/>
            <a:r>
              <a:rPr lang="en-US" b="1" dirty="0"/>
              <a:t>Confusion Matrix</a:t>
            </a:r>
            <a:r>
              <a:rPr lang="en-US" dirty="0"/>
              <a:t>:</a:t>
            </a:r>
          </a:p>
          <a:p>
            <a:pPr algn="just">
              <a:buFont typeface="Wingdings" pitchFamily="2" charset="2"/>
              <a:buChar char="§"/>
            </a:pPr>
            <a:r>
              <a:rPr lang="en-US" dirty="0"/>
              <a:t>Include confusion matrices for each model to show how well the model distinguishes between positive and negative reviews.</a:t>
            </a:r>
          </a:p>
        </p:txBody>
      </p:sp>
    </p:spTree>
    <p:extLst>
      <p:ext uri="{BB962C8B-B14F-4D97-AF65-F5344CB8AC3E}">
        <p14:creationId xmlns:p14="http://schemas.microsoft.com/office/powerpoint/2010/main" val="901820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TF-IDF </a:t>
            </a:r>
            <a:r>
              <a:rPr lang="en-US" b="1" dirty="0" err="1"/>
              <a:t>Vectorization</a:t>
            </a:r>
            <a:br>
              <a:rPr lang="en-US" dirty="0"/>
            </a:br>
            <a:r>
              <a:rPr lang="en-US" dirty="0"/>
              <a:t> </a:t>
            </a:r>
          </a:p>
        </p:txBody>
      </p:sp>
      <p:pic>
        <p:nvPicPr>
          <p:cNvPr id="4" name="Content Placeholder 3"/>
          <p:cNvPicPr>
            <a:picLocks noGrp="1" noChangeAspect="1"/>
          </p:cNvPicPr>
          <p:nvPr>
            <p:ph idx="1"/>
          </p:nvPr>
        </p:nvPicPr>
        <p:blipFill>
          <a:blip r:embed="rId2"/>
          <a:stretch>
            <a:fillRect/>
          </a:stretch>
        </p:blipFill>
        <p:spPr>
          <a:xfrm>
            <a:off x="2592925" y="1532586"/>
            <a:ext cx="8225329" cy="5151549"/>
          </a:xfrm>
          <a:prstGeom prst="rect">
            <a:avLst/>
          </a:prstGeom>
        </p:spPr>
      </p:pic>
    </p:spTree>
    <p:extLst>
      <p:ext uri="{BB962C8B-B14F-4D97-AF65-F5344CB8AC3E}">
        <p14:creationId xmlns:p14="http://schemas.microsoft.com/office/powerpoint/2010/main" val="3409633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197734"/>
            <a:ext cx="8915400" cy="4713487"/>
          </a:xfrm>
        </p:spPr>
        <p:txBody>
          <a:bodyPr/>
          <a:lstStyle/>
          <a:p>
            <a:endParaRPr lang="en-US" dirty="0"/>
          </a:p>
          <a:p>
            <a:r>
              <a:rPr lang="en-US" dirty="0"/>
              <a:t>from </a:t>
            </a:r>
            <a:r>
              <a:rPr lang="en-US" dirty="0" err="1"/>
              <a:t>sklearn.model_selection</a:t>
            </a:r>
            <a:r>
              <a:rPr lang="en-US" dirty="0"/>
              <a:t> import </a:t>
            </a:r>
            <a:r>
              <a:rPr lang="en-US" dirty="0" err="1"/>
              <a:t>train_test_split</a:t>
            </a:r>
            <a:r>
              <a:rPr lang="en-US" dirty="0"/>
              <a:t>, </a:t>
            </a:r>
            <a:r>
              <a:rPr lang="en-US" dirty="0" err="1"/>
              <a:t>GridSearchCV</a:t>
            </a:r>
            <a:endParaRPr lang="en-US" dirty="0"/>
          </a:p>
          <a:p>
            <a:r>
              <a:rPr lang="en-US" dirty="0"/>
              <a:t>from </a:t>
            </a:r>
            <a:r>
              <a:rPr lang="en-US" dirty="0" err="1"/>
              <a:t>sklearn.naive_bayes</a:t>
            </a:r>
            <a:r>
              <a:rPr lang="en-US" dirty="0"/>
              <a:t> import </a:t>
            </a:r>
            <a:r>
              <a:rPr lang="en-US" dirty="0" err="1"/>
              <a:t>MultinomialNB</a:t>
            </a:r>
            <a:endParaRPr lang="en-US" dirty="0"/>
          </a:p>
          <a:p>
            <a:r>
              <a:rPr lang="en-US" dirty="0"/>
              <a:t>from </a:t>
            </a:r>
            <a:r>
              <a:rPr lang="en-US" dirty="0" err="1"/>
              <a:t>sklearn.svm</a:t>
            </a:r>
            <a:r>
              <a:rPr lang="en-US" dirty="0"/>
              <a:t> import SVC</a:t>
            </a:r>
          </a:p>
          <a:p>
            <a:r>
              <a:rPr lang="en-US" dirty="0"/>
              <a:t>from </a:t>
            </a:r>
            <a:r>
              <a:rPr lang="en-US" dirty="0" err="1"/>
              <a:t>sklearn.ensemble</a:t>
            </a:r>
            <a:r>
              <a:rPr lang="en-US" dirty="0"/>
              <a:t> import </a:t>
            </a:r>
            <a:r>
              <a:rPr lang="en-US" dirty="0" err="1"/>
              <a:t>RandomForestClassifier</a:t>
            </a:r>
            <a:endParaRPr lang="en-US" dirty="0"/>
          </a:p>
          <a:p>
            <a:r>
              <a:rPr lang="en-US" dirty="0"/>
              <a:t>from </a:t>
            </a:r>
            <a:r>
              <a:rPr lang="en-US" dirty="0" err="1"/>
              <a:t>sklearn.linear_model</a:t>
            </a:r>
            <a:r>
              <a:rPr lang="en-US" dirty="0"/>
              <a:t> import </a:t>
            </a:r>
            <a:r>
              <a:rPr lang="en-US" dirty="0" err="1"/>
              <a:t>LogisticRegression</a:t>
            </a:r>
            <a:endParaRPr lang="en-US" dirty="0"/>
          </a:p>
          <a:p>
            <a:r>
              <a:rPr lang="en-US" dirty="0"/>
              <a:t>from </a:t>
            </a:r>
            <a:r>
              <a:rPr lang="en-US" dirty="0" err="1"/>
              <a:t>sklearn.metrics</a:t>
            </a:r>
            <a:r>
              <a:rPr lang="en-US" dirty="0"/>
              <a:t> import </a:t>
            </a:r>
            <a:r>
              <a:rPr lang="en-US" dirty="0" err="1"/>
              <a:t>accuracy_score</a:t>
            </a:r>
            <a:r>
              <a:rPr lang="en-US" dirty="0"/>
              <a:t>, </a:t>
            </a:r>
            <a:r>
              <a:rPr lang="en-US" dirty="0" err="1"/>
              <a:t>classification_report</a:t>
            </a:r>
            <a:r>
              <a:rPr lang="en-US" dirty="0"/>
              <a:t>, f1_score</a:t>
            </a:r>
          </a:p>
          <a:p>
            <a:r>
              <a:rPr lang="en-US" dirty="0"/>
              <a:t>from </a:t>
            </a:r>
            <a:r>
              <a:rPr lang="en-US" dirty="0" err="1"/>
              <a:t>imblearn.over_sampling</a:t>
            </a:r>
            <a:r>
              <a:rPr lang="en-US" dirty="0"/>
              <a:t> import </a:t>
            </a:r>
            <a:r>
              <a:rPr lang="en-US" dirty="0" err="1"/>
              <a:t>RandomOverSampler</a:t>
            </a:r>
            <a:endParaRPr lang="en-US" dirty="0"/>
          </a:p>
          <a:p>
            <a:endParaRPr lang="en-US" dirty="0"/>
          </a:p>
        </p:txBody>
      </p:sp>
    </p:spTree>
    <p:extLst>
      <p:ext uri="{BB962C8B-B14F-4D97-AF65-F5344CB8AC3E}">
        <p14:creationId xmlns:p14="http://schemas.microsoft.com/office/powerpoint/2010/main" val="337180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79775" y="623888"/>
            <a:ext cx="8912225" cy="1281112"/>
          </a:xfrm>
        </p:spPr>
        <p:txBody>
          <a:bodyPr/>
          <a:lstStyle/>
          <a:p>
            <a:r>
              <a:rPr lang="en-IN" b="1" dirty="0"/>
              <a:t>Model Selection</a:t>
            </a:r>
            <a:br>
              <a:rPr lang="en-IN" b="1" dirty="0"/>
            </a:br>
            <a:endParaRPr lang="en-IN" dirty="0"/>
          </a:p>
        </p:txBody>
      </p:sp>
      <p:sp>
        <p:nvSpPr>
          <p:cNvPr id="3" name="Content Placeholder 2"/>
          <p:cNvSpPr>
            <a:spLocks noGrp="1"/>
          </p:cNvSpPr>
          <p:nvPr>
            <p:ph idx="4294967295"/>
          </p:nvPr>
        </p:nvSpPr>
        <p:spPr>
          <a:xfrm>
            <a:off x="3276600" y="2133600"/>
            <a:ext cx="8915400" cy="3778250"/>
          </a:xfrm>
        </p:spPr>
        <p:txBody>
          <a:bodyPr/>
          <a:lstStyle/>
          <a:p>
            <a:pPr marL="0" indent="0">
              <a:buNone/>
            </a:pPr>
            <a:r>
              <a:rPr lang="en-US" b="1" dirty="0"/>
              <a:t>List of Models: </a:t>
            </a:r>
            <a:r>
              <a:rPr lang="en-US" dirty="0"/>
              <a:t>Logistic Regression, Random Forest, SVM.</a:t>
            </a:r>
          </a:p>
          <a:p>
            <a:pPr marL="0" indent="0">
              <a:buNone/>
            </a:pPr>
            <a:endParaRPr lang="en-IN" dirty="0"/>
          </a:p>
        </p:txBody>
      </p:sp>
      <p:pic>
        <p:nvPicPr>
          <p:cNvPr id="1026" name="Picture 2"/>
          <p:cNvPicPr>
            <a:picLocks noChangeAspect="1" noChangeArrowheads="1"/>
          </p:cNvPicPr>
          <p:nvPr/>
        </p:nvPicPr>
        <p:blipFill>
          <a:blip r:embed="rId2"/>
          <a:srcRect/>
          <a:stretch>
            <a:fillRect/>
          </a:stretch>
        </p:blipFill>
        <p:spPr bwMode="auto">
          <a:xfrm>
            <a:off x="3317967" y="2521131"/>
            <a:ext cx="7620952" cy="4088675"/>
          </a:xfrm>
          <a:prstGeom prst="rect">
            <a:avLst/>
          </a:prstGeom>
          <a:noFill/>
          <a:ln w="9525">
            <a:noFill/>
            <a:miter lim="800000"/>
            <a:headEnd/>
            <a:tailEnd/>
          </a:ln>
          <a:effectLst/>
        </p:spPr>
      </p:pic>
    </p:spTree>
    <p:extLst>
      <p:ext uri="{BB962C8B-B14F-4D97-AF65-F5344CB8AC3E}">
        <p14:creationId xmlns:p14="http://schemas.microsoft.com/office/powerpoint/2010/main" val="2491388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Deployment</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a:t>Implementing the Text Classification Model using </a:t>
            </a:r>
            <a:r>
              <a:rPr lang="en-US" dirty="0" err="1"/>
              <a:t>Streamlit</a:t>
            </a:r>
            <a:endParaRPr lang="en-US" dirty="0"/>
          </a:p>
          <a:p>
            <a:pPr marL="0" indent="0" algn="just">
              <a:buNone/>
            </a:pPr>
            <a:r>
              <a:rPr lang="en-IN" b="1" dirty="0"/>
              <a:t>What is </a:t>
            </a:r>
            <a:r>
              <a:rPr lang="en-IN" b="1" dirty="0" err="1"/>
              <a:t>Streamlit</a:t>
            </a:r>
            <a:r>
              <a:rPr lang="en-IN" dirty="0"/>
              <a:t>: </a:t>
            </a:r>
            <a:r>
              <a:rPr lang="en-US" dirty="0" err="1"/>
              <a:t>Streamlit</a:t>
            </a:r>
            <a:r>
              <a:rPr lang="en-US" dirty="0"/>
              <a:t> is an open-source Python library that makes it easy to create and share custom web applications for machine learning and data science projects. It allows data scientists and machine learning practitioners to turn their data scripts into interactive web apps with minimal effort and without requiring extensive knowledge of web development.</a:t>
            </a:r>
          </a:p>
          <a:p>
            <a:pPr marL="0" indent="0" algn="just">
              <a:buNone/>
            </a:pPr>
            <a:r>
              <a:rPr lang="en-US" b="1" dirty="0"/>
              <a:t>Step-by-Step Deployment</a:t>
            </a:r>
            <a:r>
              <a:rPr lang="en-US" dirty="0"/>
              <a:t>: Outline the steps taken to deploy the model using </a:t>
            </a:r>
            <a:r>
              <a:rPr lang="en-US" dirty="0" err="1"/>
              <a:t>Streamlit</a:t>
            </a:r>
            <a:r>
              <a:rPr lang="en-US" dirty="0"/>
              <a:t>.</a:t>
            </a:r>
          </a:p>
          <a:p>
            <a:pPr marL="0" indent="0" algn="just">
              <a:buNone/>
            </a:pPr>
            <a:r>
              <a:rPr lang="en-US" b="1" dirty="0"/>
              <a:t>Environment Setup</a:t>
            </a:r>
            <a:r>
              <a:rPr lang="en-US" dirty="0"/>
              <a:t>: Setting up the Python environment with necessary libraries.</a:t>
            </a:r>
          </a:p>
          <a:p>
            <a:pPr marL="0" indent="0" algn="just">
              <a:buNone/>
            </a:pPr>
            <a:r>
              <a:rPr lang="en-IN" b="1" dirty="0" err="1"/>
              <a:t>Streamlit</a:t>
            </a:r>
            <a:r>
              <a:rPr lang="en-IN" b="1" dirty="0"/>
              <a:t> </a:t>
            </a:r>
            <a:r>
              <a:rPr lang="en-IN" b="1" dirty="0" err="1"/>
              <a:t>Installation</a:t>
            </a:r>
            <a:r>
              <a:rPr lang="en-IN" dirty="0" err="1"/>
              <a:t>:Installing</a:t>
            </a:r>
            <a:r>
              <a:rPr lang="en-IN" dirty="0"/>
              <a:t> </a:t>
            </a:r>
            <a:r>
              <a:rPr lang="en-IN" dirty="0" err="1"/>
              <a:t>Streamlit</a:t>
            </a:r>
            <a:r>
              <a:rPr lang="en-IN" dirty="0"/>
              <a:t> using pip install </a:t>
            </a:r>
            <a:r>
              <a:rPr lang="en-IN" dirty="0" err="1"/>
              <a:t>streamlit</a:t>
            </a:r>
            <a:endParaRPr lang="en-IN" dirty="0"/>
          </a:p>
          <a:p>
            <a:pPr marL="0" indent="0" algn="just">
              <a:buNone/>
            </a:pPr>
            <a:r>
              <a:rPr lang="en-US" b="1" dirty="0"/>
              <a:t>Developing the App</a:t>
            </a:r>
            <a:r>
              <a:rPr lang="en-US" dirty="0"/>
              <a:t>: Writing the </a:t>
            </a:r>
            <a:r>
              <a:rPr lang="en-US" dirty="0" err="1"/>
              <a:t>Streamlit</a:t>
            </a:r>
            <a:r>
              <a:rPr lang="en-US" dirty="0"/>
              <a:t> app script to load the model, process inputs, and display predictions.</a:t>
            </a:r>
          </a:p>
          <a:p>
            <a:pPr marL="0" indent="0" algn="just">
              <a:buNone/>
            </a:pPr>
            <a:r>
              <a:rPr lang="en-US" b="1" dirty="0"/>
              <a:t>Running the App</a:t>
            </a:r>
            <a:r>
              <a:rPr lang="en-US" dirty="0"/>
              <a:t>: Running the </a:t>
            </a:r>
            <a:r>
              <a:rPr lang="en-US" dirty="0" err="1"/>
              <a:t>Streamlit</a:t>
            </a:r>
            <a:r>
              <a:rPr lang="en-US" dirty="0"/>
              <a:t> app locally using </a:t>
            </a:r>
            <a:r>
              <a:rPr lang="en-IN" dirty="0" err="1"/>
              <a:t>streamlit</a:t>
            </a:r>
            <a:r>
              <a:rPr lang="en-IN" dirty="0"/>
              <a:t> run app.py</a:t>
            </a:r>
          </a:p>
          <a:p>
            <a:pPr marL="0" indent="0">
              <a:buNone/>
            </a:pPr>
            <a:endParaRPr lang="en-IN" dirty="0"/>
          </a:p>
        </p:txBody>
      </p:sp>
    </p:spTree>
    <p:extLst>
      <p:ext uri="{BB962C8B-B14F-4D97-AF65-F5344CB8AC3E}">
        <p14:creationId xmlns:p14="http://schemas.microsoft.com/office/powerpoint/2010/main" val="2930492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ScreenShot</a:t>
            </a:r>
            <a:endParaRPr lang="en-IN" dirty="0"/>
          </a:p>
        </p:txBody>
      </p:sp>
      <p:pic>
        <p:nvPicPr>
          <p:cNvPr id="9" name="Content Placeholder 8" descr="IMG-20240730-WA0013.jpg"/>
          <p:cNvPicPr>
            <a:picLocks noGrp="1" noChangeAspect="1"/>
          </p:cNvPicPr>
          <p:nvPr>
            <p:ph sz="half" idx="1"/>
          </p:nvPr>
        </p:nvPicPr>
        <p:blipFill>
          <a:blip r:embed="rId2"/>
          <a:stretch>
            <a:fillRect/>
          </a:stretch>
        </p:blipFill>
        <p:spPr>
          <a:xfrm>
            <a:off x="1410789" y="1423851"/>
            <a:ext cx="9888582" cy="2573383"/>
          </a:xfrm>
        </p:spPr>
      </p:pic>
      <p:pic>
        <p:nvPicPr>
          <p:cNvPr id="10" name="Content Placeholder 9" descr="IMG-20240730-WA0014.jpg"/>
          <p:cNvPicPr>
            <a:picLocks noGrp="1" noChangeAspect="1"/>
          </p:cNvPicPr>
          <p:nvPr>
            <p:ph sz="half" idx="2"/>
          </p:nvPr>
        </p:nvPicPr>
        <p:blipFill>
          <a:blip r:embed="rId3"/>
          <a:stretch>
            <a:fillRect/>
          </a:stretch>
        </p:blipFill>
        <p:spPr>
          <a:xfrm>
            <a:off x="1410789" y="4297680"/>
            <a:ext cx="9849394" cy="2351314"/>
          </a:xfrm>
        </p:spPr>
      </p:pic>
    </p:spTree>
    <p:extLst>
      <p:ext uri="{BB962C8B-B14F-4D97-AF65-F5344CB8AC3E}">
        <p14:creationId xmlns:p14="http://schemas.microsoft.com/office/powerpoint/2010/main" val="419196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5" name="Content Placeholder 4"/>
          <p:cNvSpPr>
            <a:spLocks noGrp="1"/>
          </p:cNvSpPr>
          <p:nvPr>
            <p:ph idx="1"/>
          </p:nvPr>
        </p:nvSpPr>
        <p:spPr/>
        <p:txBody>
          <a:bodyPr/>
          <a:lstStyle/>
          <a:p>
            <a:pPr algn="just"/>
            <a:r>
              <a:rPr lang="en-US" dirty="0"/>
              <a:t>We aimed to build a model to classify hotel reviews into positive or negative categories. We explored and evaluated three different models: Support Vector Machine (SVM), Random Forest, and Logistic Regression.</a:t>
            </a:r>
          </a:p>
          <a:p>
            <a:pPr algn="just"/>
            <a:r>
              <a:rPr lang="en-US" dirty="0"/>
              <a:t>The Random Forest model, with its superior accuracy and performance metrics, is well-suited for this text classification task. It can be deployed in real-world applications to automatically classify hotel reviews, providing valuable insights for businesses to improve customer experience based on sentiment analysis.</a:t>
            </a:r>
          </a:p>
        </p:txBody>
      </p:sp>
    </p:spTree>
    <p:extLst>
      <p:ext uri="{BB962C8B-B14F-4D97-AF65-F5344CB8AC3E}">
        <p14:creationId xmlns:p14="http://schemas.microsoft.com/office/powerpoint/2010/main" val="3771917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1,000+ Best Thank You Images · 100% Free Download · Pexels Stock Phot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321809">
            <a:off x="815255" y="1011488"/>
            <a:ext cx="10144728" cy="5149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0743264"/>
      </p:ext>
    </p:extLst>
  </p:cSld>
  <p:clrMapOvr>
    <a:masterClrMapping/>
  </p:clrMapOvr>
</p:sld>
</file>

<file path=ppt/theme/theme1.xml><?xml version="1.0" encoding="utf-8"?>
<a:theme xmlns:a="http://schemas.openxmlformats.org/drawingml/2006/main" name="Wisp">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Equity</Template>
  <TotalTime>432</TotalTime>
  <Words>830</Words>
  <Application>Microsoft Office PowerPoint</Application>
  <PresentationFormat>Widescreen</PresentationFormat>
  <Paragraphs>101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Black</vt:lpstr>
      <vt:lpstr>Century Gothic</vt:lpstr>
      <vt:lpstr>Wingdings</vt:lpstr>
      <vt:lpstr>Wingdings 3</vt:lpstr>
      <vt:lpstr>Wisp</vt:lpstr>
      <vt:lpstr>PowerPoint Presentation</vt:lpstr>
      <vt:lpstr>Text Classification On Hotel Review</vt:lpstr>
      <vt:lpstr>CONTENT</vt:lpstr>
      <vt:lpstr>Project Structure</vt:lpstr>
      <vt:lpstr>Objective </vt:lpstr>
      <vt:lpstr>Introduction to Text Classification On Hotel Review</vt:lpstr>
      <vt:lpstr>ABOUT DATASET</vt:lpstr>
      <vt:lpstr>Data Pre-processing  </vt:lpstr>
      <vt:lpstr>EDA</vt:lpstr>
      <vt:lpstr>Word Cloud</vt:lpstr>
      <vt:lpstr>Model Building </vt:lpstr>
      <vt:lpstr>TF-IDF Vectorization  </vt:lpstr>
      <vt:lpstr>PowerPoint Presentation</vt:lpstr>
      <vt:lpstr>Model Selection </vt:lpstr>
      <vt:lpstr>Deployment </vt:lpstr>
      <vt:lpstr>ScreenShot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BANKRUPTCY PREVENTION</dc:title>
  <dc:creator>juned</dc:creator>
  <cp:lastModifiedBy>Bhabani Barik</cp:lastModifiedBy>
  <cp:revision>43</cp:revision>
  <dcterms:created xsi:type="dcterms:W3CDTF">2024-07-16T17:35:57Z</dcterms:created>
  <dcterms:modified xsi:type="dcterms:W3CDTF">2025-04-30T17:21:32Z</dcterms:modified>
</cp:coreProperties>
</file>